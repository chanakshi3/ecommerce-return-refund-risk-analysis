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65.xml"/><Relationship Id="rId3" Type="http://schemas.openxmlformats.org/officeDocument/2006/relationships/image" Target="../media/image1.jpeg"/><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8.xml"/><Relationship Id="rId3" Type="http://schemas.openxmlformats.org/officeDocument/2006/relationships/image" Target="../media/image2.jpeg"/><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1.xml"/><Relationship Id="rId3" Type="http://schemas.openxmlformats.org/officeDocument/2006/relationships/image" Target="../media/image2.jpeg"/><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4.xml"/><Relationship Id="rId3" Type="http://schemas.openxmlformats.org/officeDocument/2006/relationships/image" Target="../media/image2.jpeg"/><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7.xml"/><Relationship Id="rId3" Type="http://schemas.openxmlformats.org/officeDocument/2006/relationships/image" Target="../media/image2.jpeg"/><Relationship Id="rId2" Type="http://schemas.openxmlformats.org/officeDocument/2006/relationships/tags" Target="../tags/tag76.xml"/><Relationship Id="rId1" Type="http://schemas.openxmlformats.org/officeDocument/2006/relationships/tags" Target="../tags/tag75.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0.xml"/><Relationship Id="rId3" Type="http://schemas.openxmlformats.org/officeDocument/2006/relationships/image" Target="../media/image2.jpeg"/><Relationship Id="rId2" Type="http://schemas.openxmlformats.org/officeDocument/2006/relationships/tags" Target="../tags/tag79.xml"/><Relationship Id="rId1" Type="http://schemas.openxmlformats.org/officeDocument/2006/relationships/tags" Target="../tags/tag78.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3.xml"/><Relationship Id="rId3" Type="http://schemas.openxmlformats.org/officeDocument/2006/relationships/image" Target="../media/image2.jpeg"/><Relationship Id="rId2" Type="http://schemas.openxmlformats.org/officeDocument/2006/relationships/tags" Target="../tags/tag82.xml"/><Relationship Id="rId1" Type="http://schemas.openxmlformats.org/officeDocument/2006/relationships/tags" Target="../tags/tag81.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6.xml"/><Relationship Id="rId3" Type="http://schemas.openxmlformats.org/officeDocument/2006/relationships/image" Target="../media/image2.jpeg"/><Relationship Id="rId2" Type="http://schemas.openxmlformats.org/officeDocument/2006/relationships/tags" Target="../tags/tag85.xml"/><Relationship Id="rId1" Type="http://schemas.openxmlformats.org/officeDocument/2006/relationships/tags" Target="../tags/tag84.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9.xml"/><Relationship Id="rId3" Type="http://schemas.openxmlformats.org/officeDocument/2006/relationships/image" Target="../media/image2.jpeg"/><Relationship Id="rId2" Type="http://schemas.openxmlformats.org/officeDocument/2006/relationships/tags" Target="../tags/tag88.xml"/><Relationship Id="rId1" Type="http://schemas.openxmlformats.org/officeDocument/2006/relationships/tags" Target="../tags/tag87.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92.xml"/><Relationship Id="rId3" Type="http://schemas.openxmlformats.org/officeDocument/2006/relationships/image" Target="../media/image2.jpeg"/><Relationship Id="rId2" Type="http://schemas.openxmlformats.org/officeDocument/2006/relationships/tags" Target="../tags/tag91.xml"/><Relationship Id="rId1" Type="http://schemas.openxmlformats.org/officeDocument/2006/relationships/tags" Target="../tags/tag9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p>
            <a:endParaRPr lang="en-US"/>
          </a:p>
        </p:txBody>
      </p:sp>
      <p:sp>
        <p:nvSpPr>
          <p:cNvPr id="3" name="Subtitle 2"/>
          <p:cNvSpPr>
            <a:spLocks noGrp="1"/>
          </p:cNvSpPr>
          <p:nvPr>
            <p:ph type="subTitle" idx="1"/>
            <p:custDataLst>
              <p:tags r:id="rId2"/>
            </p:custDataLst>
          </p:nvPr>
        </p:nvSpPr>
        <p:spPr/>
        <p:txBody>
          <a:bodyPr/>
          <a:p>
            <a:endParaRPr lang="en-US"/>
          </a:p>
        </p:txBody>
      </p:sp>
      <p:pic>
        <p:nvPicPr>
          <p:cNvPr id="4" name="Picture 3"/>
          <p:cNvPicPr/>
          <p:nvPr/>
        </p:nvPicPr>
        <p:blipFill>
          <a:blip r:embed="rId3"/>
          <a:stretch>
            <a:fillRect/>
          </a:stretch>
        </p:blipFill>
        <p:spPr>
          <a:xfrm>
            <a:off x="0" y="-635"/>
            <a:ext cx="12272645" cy="6859270"/>
          </a:xfrm>
          <a:prstGeom prst="rect">
            <a:avLst/>
          </a:prstGeom>
        </p:spPr>
      </p:pic>
      <p:sp>
        <p:nvSpPr>
          <p:cNvPr id="5" name="Text Box 4"/>
          <p:cNvSpPr txBox="1"/>
          <p:nvPr/>
        </p:nvSpPr>
        <p:spPr>
          <a:xfrm>
            <a:off x="2377440" y="299720"/>
            <a:ext cx="6867525" cy="887730"/>
          </a:xfrm>
          <a:prstGeom prst="rect">
            <a:avLst/>
          </a:prstGeom>
          <a:solidFill>
            <a:schemeClr val="tx2"/>
          </a:solidFill>
        </p:spPr>
        <p:txBody>
          <a:bodyPr wrap="square" rtlCol="0">
            <a:noAutofit/>
          </a:bodyPr>
          <a:p>
            <a:r>
              <a:rPr lang="en-IN" altLang="en-US" b="1">
                <a:solidFill>
                  <a:schemeClr val="bg1"/>
                </a:solidFill>
              </a:rPr>
              <a:t>E-COMMERCE RETURN AND REFUND RISK ANALYSIS</a:t>
            </a:r>
            <a:endParaRPr lang="en-IN" altLang="en-US" b="1">
              <a:solidFill>
                <a:schemeClr val="bg1"/>
              </a:solidFill>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sp>
        <p:nvSpPr>
          <p:cNvPr id="3" name="Content Placeholder 2"/>
          <p:cNvSpPr>
            <a:spLocks noGrp="1"/>
          </p:cNvSpPr>
          <p:nvPr>
            <p:ph idx="1"/>
            <p:custDataLst>
              <p:tags r:id="rId2"/>
            </p:custDataLst>
          </p:nvPr>
        </p:nvSpPr>
        <p:spPr/>
        <p:txBody>
          <a:bodyPr/>
          <a:p>
            <a:endParaRPr lang="en-US"/>
          </a:p>
        </p:txBody>
      </p:sp>
      <p:pic>
        <p:nvPicPr>
          <p:cNvPr id="4" name="Picture 3"/>
          <p:cNvPicPr/>
          <p:nvPr/>
        </p:nvPicPr>
        <p:blipFill>
          <a:blip r:embed="rId3"/>
          <a:stretch>
            <a:fillRect/>
          </a:stretch>
        </p:blipFill>
        <p:spPr>
          <a:xfrm>
            <a:off x="0" y="0"/>
            <a:ext cx="12192000" cy="7116445"/>
          </a:xfrm>
          <a:prstGeom prst="rect">
            <a:avLst/>
          </a:prstGeom>
        </p:spPr>
      </p:pic>
      <p:sp>
        <p:nvSpPr>
          <p:cNvPr id="5" name="Text Box 4"/>
          <p:cNvSpPr txBox="1"/>
          <p:nvPr/>
        </p:nvSpPr>
        <p:spPr>
          <a:xfrm>
            <a:off x="2035810" y="1591310"/>
            <a:ext cx="7548880" cy="4170680"/>
          </a:xfrm>
          <a:prstGeom prst="rect">
            <a:avLst/>
          </a:prstGeom>
        </p:spPr>
        <p:txBody>
          <a:bodyPr>
            <a:noAutofit/>
          </a:bodyPr>
          <a:p>
            <a:r>
              <a:rPr sz="3500" b="1">
                <a:solidFill>
                  <a:srgbClr val="000000"/>
                </a:solidFill>
                <a:latin typeface="Microsoft YaHei" panose="020B0503020204020204" charset="-122"/>
                <a:ea typeface="Microsoft YaHei" panose="020B0503020204020204" charset="-122"/>
              </a:rPr>
              <a:t>Project Title </a:t>
            </a:r>
            <a:endParaRPr sz="3500" b="1">
              <a:solidFill>
                <a:srgbClr val="000000"/>
              </a:solidFill>
              <a:latin typeface="Microsoft YaHei" panose="020B0503020204020204" charset="-122"/>
              <a:ea typeface="Microsoft YaHei" panose="020B0503020204020204" charset="-122"/>
            </a:endParaRPr>
          </a:p>
          <a:p>
            <a:endParaRPr sz="3500" b="1">
              <a:solidFill>
                <a:srgbClr val="000000"/>
              </a:solidFill>
              <a:latin typeface="Helvetica-Bold"/>
              <a:ea typeface="Helvetica-Bold"/>
            </a:endParaRPr>
          </a:p>
          <a:p>
            <a:r>
              <a:rPr sz="1600">
                <a:solidFill>
                  <a:srgbClr val="000000"/>
                </a:solidFill>
                <a:latin typeface="Helvetica"/>
                <a:ea typeface="Helvetica"/>
              </a:rPr>
              <a:t>E-Commerce Return &amp; Refund Risk Analysis </a:t>
            </a:r>
            <a:endParaRPr sz="1600">
              <a:solidFill>
                <a:srgbClr val="000000"/>
              </a:solidFill>
              <a:latin typeface="Helvetica"/>
              <a:ea typeface="Helvetica"/>
            </a:endParaRPr>
          </a:p>
          <a:p>
            <a:endParaRPr sz="1600">
              <a:solidFill>
                <a:srgbClr val="000000"/>
              </a:solidFill>
              <a:latin typeface="Helvetica"/>
              <a:ea typeface="Helvetica"/>
            </a:endParaRPr>
          </a:p>
          <a:p>
            <a:r>
              <a:rPr sz="1600">
                <a:solidFill>
                  <a:srgbClr val="000000"/>
                </a:solidFill>
                <a:latin typeface="Helvetica"/>
                <a:ea typeface="Helvetica"/>
              </a:rPr>
              <a:t>Technology Used: MySQL / SQL </a:t>
            </a:r>
            <a:endParaRPr sz="1600">
              <a:solidFill>
                <a:srgbClr val="000000"/>
              </a:solidFill>
              <a:latin typeface="Helvetica"/>
              <a:ea typeface="Helvetica"/>
            </a:endParaRPr>
          </a:p>
          <a:p>
            <a:endParaRPr sz="1600">
              <a:solidFill>
                <a:srgbClr val="000000"/>
              </a:solidFill>
              <a:latin typeface="Helvetica"/>
              <a:ea typeface="Helvetica"/>
            </a:endParaRPr>
          </a:p>
          <a:p>
            <a:r>
              <a:rPr sz="1600">
                <a:solidFill>
                  <a:srgbClr val="000000"/>
                </a:solidFill>
                <a:latin typeface="Helvetica"/>
                <a:ea typeface="Helvetica"/>
              </a:rPr>
              <a:t>This project analyzes e-commerce order, customer, product, return and refund data to </a:t>
            </a:r>
            <a:endParaRPr sz="1600">
              <a:solidFill>
                <a:srgbClr val="000000"/>
              </a:solidFill>
              <a:latin typeface="Helvetica"/>
              <a:ea typeface="Helvetica"/>
            </a:endParaRPr>
          </a:p>
          <a:p>
            <a:r>
              <a:rPr sz="1600">
                <a:solidFill>
                  <a:srgbClr val="000000"/>
                </a:solidFill>
                <a:latin typeface="Helvetica"/>
                <a:ea typeface="Helvetica"/>
              </a:rPr>
              <a:t>understand return behavior, identify financial exposure and prioritize products and customers </a:t>
            </a:r>
            <a:endParaRPr sz="1600">
              <a:solidFill>
                <a:srgbClr val="000000"/>
              </a:solidFill>
              <a:latin typeface="Helvetica"/>
              <a:ea typeface="Helvetica"/>
            </a:endParaRPr>
          </a:p>
          <a:p>
            <a:r>
              <a:rPr sz="1600">
                <a:solidFill>
                  <a:srgbClr val="000000"/>
                </a:solidFill>
                <a:latin typeface="Helvetica"/>
                <a:ea typeface="Helvetica"/>
              </a:rPr>
              <a:t>that require business attention.</a:t>
            </a:r>
            <a:endParaRPr sz="1600">
              <a:solidFill>
                <a:srgbClr val="000000"/>
              </a:solidFill>
              <a:latin typeface="Helvetica"/>
              <a:ea typeface="Helvetica"/>
            </a:endParaRPr>
          </a:p>
        </p:txBody>
      </p:sp>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sp>
        <p:nvSpPr>
          <p:cNvPr id="3" name="Content Placeholder 2"/>
          <p:cNvSpPr>
            <a:spLocks noGrp="1"/>
          </p:cNvSpPr>
          <p:nvPr>
            <p:ph idx="1"/>
            <p:custDataLst>
              <p:tags r:id="rId2"/>
            </p:custDataLst>
          </p:nvPr>
        </p:nvSpPr>
        <p:spPr/>
        <p:txBody>
          <a:bodyPr/>
          <a:p>
            <a:endParaRPr lang="en-US"/>
          </a:p>
        </p:txBody>
      </p:sp>
      <p:pic>
        <p:nvPicPr>
          <p:cNvPr id="4" name="Picture 3"/>
          <p:cNvPicPr/>
          <p:nvPr/>
        </p:nvPicPr>
        <p:blipFill>
          <a:blip r:embed="rId3"/>
          <a:stretch>
            <a:fillRect/>
          </a:stretch>
        </p:blipFill>
        <p:spPr>
          <a:xfrm>
            <a:off x="-1524000" y="-857250"/>
            <a:ext cx="15240000" cy="8572500"/>
          </a:xfrm>
          <a:prstGeom prst="rect">
            <a:avLst/>
          </a:prstGeom>
        </p:spPr>
      </p:pic>
      <p:sp>
        <p:nvSpPr>
          <p:cNvPr id="6" name="Text Box 5"/>
          <p:cNvSpPr txBox="1"/>
          <p:nvPr/>
        </p:nvSpPr>
        <p:spPr>
          <a:xfrm>
            <a:off x="1578610" y="1313815"/>
            <a:ext cx="8257540" cy="3722370"/>
          </a:xfrm>
          <a:prstGeom prst="rect">
            <a:avLst/>
          </a:prstGeom>
        </p:spPr>
        <p:txBody>
          <a:bodyPr>
            <a:noAutofit/>
          </a:bodyPr>
          <a:p>
            <a:pPr>
              <a:spcAft>
                <a:spcPct val="60000"/>
              </a:spcAft>
            </a:pPr>
            <a:r>
              <a:rPr sz="3200" b="1">
                <a:latin typeface="Microsoft YaHei" panose="020B0503020204020204" charset="-122"/>
                <a:ea typeface="Microsoft YaHei" panose="020B0503020204020204" charset="-122"/>
              </a:rPr>
              <a:t>1. Project Objective</a:t>
            </a:r>
            <a:endParaRPr sz="3200" b="1">
              <a:latin typeface="Microsoft YaHei" panose="020B0503020204020204" charset="-122"/>
              <a:ea typeface="Microsoft YaHei" panose="020B0503020204020204" charset="-122"/>
            </a:endParaRPr>
          </a:p>
          <a:p>
            <a:r>
              <a:rPr sz="2400"/>
              <a:t>The objective of this project is to analyze e-commerce orders, returns and refunds using MySQL to understand customer return behavior and identify major areas of return and financial risk. The project focuses on measuring return performance, identifying high-risk products and customers, analyzing return reasons, and generating actionable business recommendations.</a:t>
            </a:r>
            <a:endParaRPr sz="2400"/>
          </a:p>
        </p:txBody>
      </p:sp>
    </p:spTree>
    <p:custDataLst>
      <p:tags r:id="rId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sp>
        <p:nvSpPr>
          <p:cNvPr id="3" name="Content Placeholder 2"/>
          <p:cNvSpPr>
            <a:spLocks noGrp="1"/>
          </p:cNvSpPr>
          <p:nvPr>
            <p:ph idx="1"/>
            <p:custDataLst>
              <p:tags r:id="rId2"/>
            </p:custDataLst>
          </p:nvPr>
        </p:nvSpPr>
        <p:spPr/>
        <p:txBody>
          <a:bodyPr/>
          <a:p>
            <a:endParaRPr lang="en-US"/>
          </a:p>
        </p:txBody>
      </p:sp>
      <p:pic>
        <p:nvPicPr>
          <p:cNvPr id="5" name="Picture 4"/>
          <p:cNvPicPr/>
          <p:nvPr/>
        </p:nvPicPr>
        <p:blipFill>
          <a:blip r:embed="rId3"/>
          <a:stretch>
            <a:fillRect/>
          </a:stretch>
        </p:blipFill>
        <p:spPr>
          <a:xfrm>
            <a:off x="0" y="0"/>
            <a:ext cx="12192000" cy="6858000"/>
          </a:xfrm>
          <a:prstGeom prst="rect">
            <a:avLst/>
          </a:prstGeom>
        </p:spPr>
      </p:pic>
      <p:sp>
        <p:nvSpPr>
          <p:cNvPr id="6" name="Text Box 5"/>
          <p:cNvSpPr txBox="1"/>
          <p:nvPr/>
        </p:nvSpPr>
        <p:spPr>
          <a:xfrm>
            <a:off x="2127250" y="1600200"/>
            <a:ext cx="7594600" cy="3067685"/>
          </a:xfrm>
          <a:prstGeom prst="rect">
            <a:avLst/>
          </a:prstGeom>
        </p:spPr>
        <p:txBody>
          <a:bodyPr wrap="square">
            <a:spAutoFit/>
          </a:bodyPr>
          <a:p>
            <a:pPr>
              <a:spcAft>
                <a:spcPct val="60000"/>
              </a:spcAft>
            </a:pPr>
            <a:r>
              <a:rPr lang="en-IN" sz="3200" b="1"/>
              <a:t>2.</a:t>
            </a:r>
            <a:r>
              <a:rPr sz="3200" b="1"/>
              <a:t> Dataset Overview</a:t>
            </a:r>
            <a:endParaRPr sz="3200" b="1"/>
          </a:p>
          <a:p>
            <a:r>
              <a:rPr sz="2000"/>
              <a:t>The project uses relational datasets for Customers, Products, Orders, Returns and Refunds. The raw data was intentionally created with real-world data-quality issues such as duplicate records, NULL values, inconsistent text formats, invalid quantities, prices, discounts, refund amounts and date inconsistencies. After cleaning and validation, the analysis was performed using the cleaned tables.</a:t>
            </a:r>
            <a:endParaRPr sz="2000"/>
          </a:p>
        </p:txBody>
      </p:sp>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sp>
        <p:nvSpPr>
          <p:cNvPr id="3" name="Content Placeholder 2"/>
          <p:cNvSpPr>
            <a:spLocks noGrp="1"/>
          </p:cNvSpPr>
          <p:nvPr>
            <p:ph idx="1"/>
            <p:custDataLst>
              <p:tags r:id="rId2"/>
            </p:custDataLst>
          </p:nvPr>
        </p:nvSpPr>
        <p:spPr/>
        <p:txBody>
          <a:bodyPr/>
          <a:p>
            <a:endParaRPr lang="en-US"/>
          </a:p>
        </p:txBody>
      </p:sp>
      <p:pic>
        <p:nvPicPr>
          <p:cNvPr id="4" name="Picture 3"/>
          <p:cNvPicPr/>
          <p:nvPr/>
        </p:nvPicPr>
        <p:blipFill>
          <a:blip r:embed="rId3"/>
          <a:stretch>
            <a:fillRect/>
          </a:stretch>
        </p:blipFill>
        <p:spPr>
          <a:xfrm>
            <a:off x="-1431290" y="0"/>
            <a:ext cx="15240000" cy="8572500"/>
          </a:xfrm>
          <a:prstGeom prst="rect">
            <a:avLst/>
          </a:prstGeom>
        </p:spPr>
      </p:pic>
      <p:sp>
        <p:nvSpPr>
          <p:cNvPr id="5" name="Text Box 4"/>
          <p:cNvSpPr txBox="1"/>
          <p:nvPr/>
        </p:nvSpPr>
        <p:spPr>
          <a:xfrm>
            <a:off x="1761490" y="1748790"/>
            <a:ext cx="8588375" cy="3498850"/>
          </a:xfrm>
          <a:prstGeom prst="rect">
            <a:avLst/>
          </a:prstGeom>
        </p:spPr>
        <p:txBody>
          <a:bodyPr wrap="square">
            <a:spAutoFit/>
          </a:bodyPr>
          <a:p>
            <a:pPr>
              <a:spcAft>
                <a:spcPct val="60000"/>
              </a:spcAft>
            </a:pPr>
            <a:r>
              <a:rPr lang="en-IN" sz="3200" b="1"/>
              <a:t>3.</a:t>
            </a:r>
            <a:r>
              <a:rPr sz="3200" b="1"/>
              <a:t> Data Cleaning</a:t>
            </a:r>
            <a:endParaRPr sz="3200" b="1"/>
          </a:p>
          <a:p>
            <a:r>
              <a:rPr sz="2400"/>
              <a:t>The raw data was first profiled to identify duplicate records, missing values and invalid data. Duplicate customer, order and return records were identified and removed, inconsistent text values were standardized, and invalid quantities, prices, discount percentages and refund amounts were handled. Return dates were also checked against order dates, after which clean relational tables were created for analysis.</a:t>
            </a:r>
            <a:endParaRPr sz="2400"/>
          </a:p>
        </p:txBody>
      </p:sp>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sp>
        <p:nvSpPr>
          <p:cNvPr id="3" name="Content Placeholder 2"/>
          <p:cNvSpPr>
            <a:spLocks noGrp="1"/>
          </p:cNvSpPr>
          <p:nvPr>
            <p:ph idx="1"/>
            <p:custDataLst>
              <p:tags r:id="rId2"/>
            </p:custDataLst>
          </p:nvPr>
        </p:nvSpPr>
        <p:spPr/>
        <p:txBody>
          <a:bodyPr/>
          <a:p>
            <a:endParaRPr lang="en-US"/>
          </a:p>
        </p:txBody>
      </p:sp>
      <p:pic>
        <p:nvPicPr>
          <p:cNvPr id="4" name="Picture 3"/>
          <p:cNvPicPr/>
          <p:nvPr/>
        </p:nvPicPr>
        <p:blipFill>
          <a:blip r:embed="rId3"/>
          <a:stretch>
            <a:fillRect/>
          </a:stretch>
        </p:blipFill>
        <p:spPr>
          <a:xfrm>
            <a:off x="-1431290" y="0"/>
            <a:ext cx="15240000" cy="8572500"/>
          </a:xfrm>
          <a:prstGeom prst="rect">
            <a:avLst/>
          </a:prstGeom>
        </p:spPr>
      </p:pic>
      <p:sp>
        <p:nvSpPr>
          <p:cNvPr id="5" name="Text Box 4"/>
          <p:cNvSpPr txBox="1"/>
          <p:nvPr/>
        </p:nvSpPr>
        <p:spPr>
          <a:xfrm>
            <a:off x="1292860" y="1857375"/>
            <a:ext cx="8884920" cy="3867785"/>
          </a:xfrm>
          <a:prstGeom prst="rect">
            <a:avLst/>
          </a:prstGeom>
        </p:spPr>
        <p:txBody>
          <a:bodyPr wrap="square">
            <a:spAutoFit/>
          </a:bodyPr>
          <a:p>
            <a:pPr>
              <a:spcAft>
                <a:spcPct val="60000"/>
              </a:spcAft>
            </a:pPr>
            <a:r>
              <a:rPr lang="en-IN" sz="3200" b="1"/>
              <a:t>4</a:t>
            </a:r>
            <a:r>
              <a:rPr sz="3200" b="1"/>
              <a:t>. Key SQL Techniques Used</a:t>
            </a:r>
            <a:endParaRPr sz="3200" b="1"/>
          </a:p>
          <a:p>
            <a:r>
              <a:rPr sz="2400"/>
              <a:t>The project uses SELECT, WHERE, GROUP BY, HAVING, ORDER BY, aggregate functions, INNER JOIN and LEFT JOIN for data analysis. CASE statements were used for grouping and risk classification, while CTEs and subqueries were used for multi-step analysis. Window functions such as RANK and LAG were used for ranking and month-over-month comparisons, along with COALESCE, NULLIF and date functions for reliable calculations and trend analysis.</a:t>
            </a:r>
            <a:endParaRPr sz="2400"/>
          </a:p>
        </p:txBody>
      </p:sp>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sp>
        <p:nvSpPr>
          <p:cNvPr id="3" name="Content Placeholder 2"/>
          <p:cNvSpPr>
            <a:spLocks noGrp="1"/>
          </p:cNvSpPr>
          <p:nvPr>
            <p:ph idx="1"/>
            <p:custDataLst>
              <p:tags r:id="rId2"/>
            </p:custDataLst>
          </p:nvPr>
        </p:nvSpPr>
        <p:spPr/>
        <p:txBody>
          <a:bodyPr/>
          <a:p>
            <a:endParaRPr lang="en-US"/>
          </a:p>
        </p:txBody>
      </p:sp>
      <p:pic>
        <p:nvPicPr>
          <p:cNvPr id="4" name="Picture 3"/>
          <p:cNvPicPr/>
          <p:nvPr/>
        </p:nvPicPr>
        <p:blipFill>
          <a:blip r:embed="rId3"/>
          <a:stretch>
            <a:fillRect/>
          </a:stretch>
        </p:blipFill>
        <p:spPr>
          <a:xfrm>
            <a:off x="-1431290" y="0"/>
            <a:ext cx="15240000" cy="8572500"/>
          </a:xfrm>
          <a:prstGeom prst="rect">
            <a:avLst/>
          </a:prstGeom>
        </p:spPr>
      </p:pic>
      <p:sp>
        <p:nvSpPr>
          <p:cNvPr id="5" name="Text Box 4"/>
          <p:cNvSpPr txBox="1"/>
          <p:nvPr/>
        </p:nvSpPr>
        <p:spPr>
          <a:xfrm>
            <a:off x="732790" y="1751330"/>
            <a:ext cx="8021320" cy="4237355"/>
          </a:xfrm>
          <a:prstGeom prst="rect">
            <a:avLst/>
          </a:prstGeom>
        </p:spPr>
        <p:txBody>
          <a:bodyPr wrap="square">
            <a:spAutoFit/>
          </a:bodyPr>
          <a:p>
            <a:pPr>
              <a:spcAft>
                <a:spcPct val="60000"/>
              </a:spcAft>
            </a:pPr>
            <a:r>
              <a:rPr lang="en-IN" sz="3200" b="1"/>
              <a:t>5</a:t>
            </a:r>
            <a:r>
              <a:rPr sz="3200" b="1"/>
              <a:t>. Business Problem</a:t>
            </a:r>
            <a:endParaRPr sz="3200" b="1"/>
          </a:p>
          <a:p>
            <a:r>
              <a:rPr sz="2400"/>
              <a:t>E-commerce returns can increase refund costs, reverse-logistics expenses and operational workload. The business needs to understand why customers are returning products, which categories and products have higher return rates, which customers show repeated return behavior, and where refund exposure is highest. This analysis helps convert transactional data into useful information for improving operations and controlling return-related costs.</a:t>
            </a:r>
            <a:endParaRPr sz="2400"/>
          </a:p>
        </p:txBody>
      </p:sp>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sp>
        <p:nvSpPr>
          <p:cNvPr id="3" name="Content Placeholder 2"/>
          <p:cNvSpPr>
            <a:spLocks noGrp="1"/>
          </p:cNvSpPr>
          <p:nvPr>
            <p:ph idx="1"/>
            <p:custDataLst>
              <p:tags r:id="rId2"/>
            </p:custDataLst>
          </p:nvPr>
        </p:nvSpPr>
        <p:spPr/>
        <p:txBody>
          <a:bodyPr/>
          <a:p>
            <a:endParaRPr lang="en-US"/>
          </a:p>
        </p:txBody>
      </p:sp>
      <p:pic>
        <p:nvPicPr>
          <p:cNvPr id="4" name="Picture 3"/>
          <p:cNvPicPr/>
          <p:nvPr/>
        </p:nvPicPr>
        <p:blipFill>
          <a:blip r:embed="rId3"/>
          <a:stretch>
            <a:fillRect/>
          </a:stretch>
        </p:blipFill>
        <p:spPr>
          <a:xfrm>
            <a:off x="-1431290" y="0"/>
            <a:ext cx="15240000" cy="8572500"/>
          </a:xfrm>
          <a:prstGeom prst="rect">
            <a:avLst/>
          </a:prstGeom>
        </p:spPr>
      </p:pic>
      <p:sp>
        <p:nvSpPr>
          <p:cNvPr id="5" name="Text Box 4"/>
          <p:cNvSpPr txBox="1"/>
          <p:nvPr/>
        </p:nvSpPr>
        <p:spPr>
          <a:xfrm>
            <a:off x="-1431290" y="202565"/>
            <a:ext cx="14992350" cy="7494905"/>
          </a:xfrm>
          <a:prstGeom prst="rect">
            <a:avLst/>
          </a:prstGeom>
        </p:spPr>
        <p:txBody>
          <a:bodyPr wrap="square">
            <a:noAutofit/>
          </a:bodyPr>
          <a:p>
            <a:pPr>
              <a:spcAft>
                <a:spcPct val="60000"/>
              </a:spcAft>
            </a:pPr>
            <a:r>
              <a:rPr b="1"/>
              <a:t>6. Actual Project Insights</a:t>
            </a:r>
            <a:endParaRPr b="1"/>
          </a:p>
          <a:p>
            <a:pPr>
              <a:spcAft>
                <a:spcPct val="60000"/>
              </a:spcAft>
            </a:pPr>
            <a:r>
              <a:rPr sz="1600" b="1"/>
              <a:t>Insight 1 — Overall Return Performance</a:t>
            </a:r>
            <a:endParaRPr sz="1600" b="1"/>
          </a:p>
          <a:p>
            <a:r>
              <a:rPr sz="1400"/>
              <a:t>The cleaned project data contains 19,143 usable orders and 6,153 returned orders, resulting in an overall return rate of approximately 32.14%. This shows</a:t>
            </a:r>
            <a:endParaRPr sz="1400"/>
          </a:p>
          <a:p>
            <a:r>
              <a:rPr sz="1400"/>
              <a:t> that returns represent a significant part of the business and</a:t>
            </a:r>
            <a:r>
              <a:rPr lang="en-IN" sz="1400"/>
              <a:t> </a:t>
            </a:r>
            <a:r>
              <a:rPr sz="1400"/>
              <a:t>should be monitored as an important operational and financial KPI.</a:t>
            </a:r>
            <a:endParaRPr sz="1400"/>
          </a:p>
          <a:p>
            <a:pPr>
              <a:spcAft>
                <a:spcPct val="60000"/>
              </a:spcAft>
            </a:pPr>
            <a:r>
              <a:rPr sz="1600" b="1"/>
              <a:t>Insight 2 — Return Reasons</a:t>
            </a:r>
            <a:endParaRPr sz="1600" b="1"/>
          </a:p>
          <a:p>
            <a:r>
              <a:rPr sz="1400"/>
              <a:t>Size Issue was the most common return reason with 1,117 returns, followed closely by Damaged with 1,101 returns. This indicates opportunities to improve</a:t>
            </a:r>
            <a:endParaRPr sz="1400"/>
          </a:p>
          <a:p>
            <a:r>
              <a:rPr sz="1400"/>
              <a:t> product sizing information and descriptions, while also</a:t>
            </a:r>
            <a:r>
              <a:rPr lang="en-IN" sz="1400"/>
              <a:t> </a:t>
            </a:r>
            <a:r>
              <a:rPr sz="1400"/>
              <a:t>reviewing packaging, warehouse handling and shipping processes to reduce product damage.</a:t>
            </a:r>
            <a:endParaRPr sz="1400"/>
          </a:p>
          <a:p>
            <a:pPr>
              <a:spcAft>
                <a:spcPct val="60000"/>
              </a:spcAft>
            </a:pPr>
            <a:r>
              <a:rPr sz="1600" b="1"/>
              <a:t>Insight 3 — Category Return Risk</a:t>
            </a:r>
            <a:endParaRPr sz="1600" b="1"/>
          </a:p>
          <a:p>
            <a:r>
              <a:rPr sz="1400"/>
              <a:t>Home &amp; Kitchen recorded the highest category return rate at 33.34%, followed by Toys at 32.62%. This suggests that the business should investigate the </a:t>
            </a:r>
            <a:endParaRPr sz="1400"/>
          </a:p>
          <a:p>
            <a:r>
              <a:rPr sz="1400"/>
              <a:t>individual products and return reasons within high-return</a:t>
            </a:r>
            <a:r>
              <a:rPr lang="en-IN" sz="1400"/>
              <a:t> </a:t>
            </a:r>
            <a:r>
              <a:rPr sz="1400"/>
              <a:t>categories to identify the specific SKUs responsible for the higher return activity.</a:t>
            </a:r>
            <a:endParaRPr sz="1400"/>
          </a:p>
          <a:p>
            <a:endParaRPr sz="1000"/>
          </a:p>
          <a:p>
            <a:pPr>
              <a:spcAft>
                <a:spcPct val="60000"/>
              </a:spcAft>
            </a:pPr>
            <a:r>
              <a:rPr sz="1600" b="1"/>
              <a:t>Insight 4 — Product Return Risk</a:t>
            </a:r>
            <a:endParaRPr sz="1600" b="1"/>
          </a:p>
          <a:p>
            <a:r>
              <a:rPr sz="1400"/>
              <a:t>Several individual products showed return rates above 50%, with the highest reaching approximately 59.52% among products meeting the minimum order </a:t>
            </a:r>
            <a:endParaRPr sz="1400"/>
          </a:p>
          <a:p>
            <a:r>
              <a:rPr sz="1400"/>
              <a:t>threshold. These high-return products should be reviewed for potential issues related to product quality, product descriptions, sizing, packaging or customer</a:t>
            </a:r>
            <a:endParaRPr sz="1400"/>
          </a:p>
          <a:p>
            <a:r>
              <a:rPr sz="1400"/>
              <a:t> expectations.</a:t>
            </a:r>
            <a:endParaRPr sz="1400"/>
          </a:p>
          <a:p>
            <a:pPr>
              <a:spcAft>
                <a:spcPct val="60000"/>
              </a:spcAft>
            </a:pPr>
            <a:r>
              <a:rPr sz="1600" b="1"/>
              <a:t>Insight 5 — Customer Return Behaviour</a:t>
            </a:r>
            <a:endParaRPr sz="1600" b="1"/>
          </a:p>
          <a:p>
            <a:r>
              <a:rPr sz="1400"/>
              <a:t>Customer-level analysis showed that most customers fall into the lower-risk group, while a smaller group shows repeated or higher return activity. Identifying </a:t>
            </a:r>
            <a:endParaRPr sz="1400"/>
          </a:p>
          <a:p>
            <a:r>
              <a:rPr sz="1400"/>
              <a:t>these customers helps the business focus monitoring</a:t>
            </a:r>
            <a:r>
              <a:rPr lang="en-IN" sz="1400"/>
              <a:t> </a:t>
            </a:r>
            <a:r>
              <a:rPr sz="1400"/>
              <a:t>efforts on customers with stronger return patterns rather than treating all customers equally.</a:t>
            </a:r>
            <a:endParaRPr sz="1400"/>
          </a:p>
          <a:p>
            <a:pPr>
              <a:spcAft>
                <a:spcPct val="60000"/>
              </a:spcAft>
            </a:pPr>
            <a:r>
              <a:rPr sz="1600" b="1"/>
              <a:t>Insight 6 — Discount vs Return Behaviour</a:t>
            </a:r>
            <a:endParaRPr sz="1600" b="1"/>
          </a:p>
          <a:p>
            <a:r>
              <a:rPr sz="1400"/>
              <a:t>Orders without discounts recorded a return rate of approximately 30.89%, while discounted orders showed return rates of roughly 31.78% to 32.72% across the</a:t>
            </a:r>
            <a:endParaRPr sz="1400"/>
          </a:p>
          <a:p>
            <a:r>
              <a:rPr sz="1400"/>
              <a:t> discount ranges. The relatively small difference</a:t>
            </a:r>
            <a:r>
              <a:rPr lang="en-IN" sz="1400"/>
              <a:t> </a:t>
            </a:r>
            <a:r>
              <a:rPr sz="1400"/>
              <a:t>suggests that the analysis does not show a strong relationship between discount level and return rate.</a:t>
            </a:r>
            <a:endParaRPr sz="1400"/>
          </a:p>
          <a:p>
            <a:pPr>
              <a:spcAft>
                <a:spcPct val="60000"/>
              </a:spcAft>
            </a:pPr>
            <a:r>
              <a:rPr sz="1600" b="1"/>
              <a:t>Insight 7 — Refund Impact</a:t>
            </a:r>
            <a:endParaRPr sz="1600" b="1"/>
          </a:p>
          <a:p>
            <a:r>
              <a:rPr sz="1400"/>
              <a:t>The project recorded approximately ₹5.29 crore in total refunds, with an average refund of around ₹8,595 per returned order. Electronics had the highest refund</a:t>
            </a:r>
            <a:endParaRPr sz="1400"/>
          </a:p>
          <a:p>
            <a:r>
              <a:rPr sz="1400"/>
              <a:t> exposure, showing that financial impact should be </a:t>
            </a:r>
            <a:r>
              <a:rPr lang="en-IN" sz="1400"/>
              <a:t> </a:t>
            </a:r>
            <a:r>
              <a:rPr sz="1400"/>
              <a:t>evaluated together with return frequency because expensive products can create substantial refund costs.</a:t>
            </a:r>
            <a:endParaRPr sz="1400"/>
          </a:p>
          <a:p>
            <a:pPr>
              <a:spcAft>
                <a:spcPct val="60000"/>
              </a:spcAft>
            </a:pPr>
            <a:r>
              <a:rPr sz="1600" b="1"/>
              <a:t>Insight 8 — Risk-Based Prioritization</a:t>
            </a:r>
            <a:endParaRPr sz="1600" b="1"/>
          </a:p>
          <a:p>
            <a:r>
              <a:rPr sz="1400"/>
              <a:t>Customer and product risk levels were created using SQL business rules based on return frequency, return rate, order volume and refund exposure. This </a:t>
            </a:r>
            <a:endParaRPr sz="1400"/>
          </a:p>
          <a:p>
            <a:r>
              <a:rPr sz="1400"/>
              <a:t>rule-based classification helps prioritize high-risk cases </a:t>
            </a:r>
            <a:r>
              <a:rPr lang="en-IN" sz="1400"/>
              <a:t> </a:t>
            </a:r>
            <a:r>
              <a:rPr sz="1400"/>
              <a:t>for further investigation and supports more focused business action instead of treating every return in </a:t>
            </a:r>
            <a:endParaRPr sz="1400"/>
          </a:p>
          <a:p>
            <a:r>
              <a:rPr sz="1400"/>
              <a:t>the same way.</a:t>
            </a:r>
            <a:endParaRPr sz="1400"/>
          </a:p>
        </p:txBody>
      </p:sp>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sp>
        <p:nvSpPr>
          <p:cNvPr id="3" name="Content Placeholder 2"/>
          <p:cNvSpPr>
            <a:spLocks noGrp="1"/>
          </p:cNvSpPr>
          <p:nvPr>
            <p:ph idx="1"/>
            <p:custDataLst>
              <p:tags r:id="rId2"/>
            </p:custDataLst>
          </p:nvPr>
        </p:nvSpPr>
        <p:spPr/>
        <p:txBody>
          <a:bodyPr/>
          <a:p>
            <a:endParaRPr lang="en-US"/>
          </a:p>
        </p:txBody>
      </p:sp>
      <p:pic>
        <p:nvPicPr>
          <p:cNvPr id="4" name="Picture 3"/>
          <p:cNvPicPr/>
          <p:nvPr/>
        </p:nvPicPr>
        <p:blipFill>
          <a:blip r:embed="rId3"/>
          <a:stretch>
            <a:fillRect/>
          </a:stretch>
        </p:blipFill>
        <p:spPr>
          <a:xfrm>
            <a:off x="-1431290" y="0"/>
            <a:ext cx="15240000" cy="8572500"/>
          </a:xfrm>
          <a:prstGeom prst="rect">
            <a:avLst/>
          </a:prstGeom>
        </p:spPr>
      </p:pic>
      <p:sp>
        <p:nvSpPr>
          <p:cNvPr id="5" name="Text Box 4"/>
          <p:cNvSpPr txBox="1"/>
          <p:nvPr/>
        </p:nvSpPr>
        <p:spPr>
          <a:xfrm>
            <a:off x="-1187450" y="163830"/>
            <a:ext cx="9662795" cy="7596505"/>
          </a:xfrm>
          <a:prstGeom prst="rect">
            <a:avLst/>
          </a:prstGeom>
        </p:spPr>
        <p:txBody>
          <a:bodyPr wrap="square">
            <a:spAutoFit/>
          </a:bodyPr>
          <a:p>
            <a:pPr>
              <a:spcAft>
                <a:spcPct val="60000"/>
              </a:spcAft>
            </a:pPr>
            <a:r>
              <a:rPr sz="2000" b="1"/>
              <a:t>7. Business Recommendations</a:t>
            </a:r>
            <a:endParaRPr sz="2000" b="1"/>
          </a:p>
          <a:p>
            <a:pPr>
              <a:spcAft>
                <a:spcPct val="60000"/>
              </a:spcAft>
            </a:pPr>
            <a:r>
              <a:rPr b="1"/>
              <a:t>1. Improve Product Information</a:t>
            </a:r>
            <a:endParaRPr b="1"/>
          </a:p>
          <a:p>
            <a:r>
              <a:rPr sz="1600"/>
              <a:t>Improve size charts, product measurements, fit descriptions and product details to reduce returns caused by Size Issues.</a:t>
            </a:r>
            <a:endParaRPr sz="1600"/>
          </a:p>
          <a:p>
            <a:pPr>
              <a:spcAft>
                <a:spcPct val="60000"/>
              </a:spcAft>
            </a:pPr>
            <a:r>
              <a:rPr b="1"/>
              <a:t>2. Reduce Product Damage</a:t>
            </a:r>
            <a:endParaRPr b="1"/>
          </a:p>
          <a:p>
            <a:r>
              <a:rPr sz="1400"/>
              <a:t>Review packaging standards, warehouse handling and shipping processes to reduce damaged-product returns.</a:t>
            </a:r>
            <a:endParaRPr sz="1400"/>
          </a:p>
          <a:p>
            <a:pPr>
              <a:spcAft>
                <a:spcPct val="60000"/>
              </a:spcAft>
            </a:pPr>
            <a:r>
              <a:rPr b="1"/>
              <a:t>3. Investigate High-Risk Products</a:t>
            </a:r>
            <a:endParaRPr b="1"/>
          </a:p>
          <a:p>
            <a:r>
              <a:rPr sz="1400"/>
              <a:t>Prioritize products with unusually high return rates and investigate product quality, descriptions, sizing issues and customer complaints.</a:t>
            </a:r>
            <a:endParaRPr sz="1400"/>
          </a:p>
          <a:p>
            <a:pPr>
              <a:spcAft>
                <a:spcPct val="60000"/>
              </a:spcAft>
            </a:pPr>
            <a:r>
              <a:rPr b="1"/>
              <a:t>4. Monitor High-Refund Categories</a:t>
            </a:r>
            <a:endParaRPr b="1"/>
          </a:p>
          <a:p>
            <a:r>
              <a:rPr sz="1400"/>
              <a:t>Give additional attention to Electronics and other categories with high refund exposure to reduce the financial impact of expensive returns.</a:t>
            </a:r>
            <a:endParaRPr sz="1400"/>
          </a:p>
          <a:p>
            <a:pPr>
              <a:spcAft>
                <a:spcPct val="60000"/>
              </a:spcAft>
            </a:pPr>
            <a:r>
              <a:rPr b="1"/>
              <a:t>5. Monitor Repeated-Return Customers</a:t>
            </a:r>
            <a:endParaRPr b="1"/>
          </a:p>
          <a:p>
            <a:r>
              <a:rPr sz="1400"/>
              <a:t>Use return frequency and return-rate rules to identify customers with repeated returns and prioritize them for further review.</a:t>
            </a:r>
            <a:endParaRPr sz="1400"/>
          </a:p>
          <a:p>
            <a:pPr>
              <a:spcAft>
                <a:spcPct val="60000"/>
              </a:spcAft>
            </a:pPr>
            <a:r>
              <a:rPr b="1"/>
              <a:t>6. Review High-Value Refunds</a:t>
            </a:r>
            <a:endParaRPr b="1"/>
          </a:p>
          <a:p>
            <a:r>
              <a:rPr sz="1400"/>
              <a:t>Create an exception-review process for unusually high refund amounts to identify expensive returns, processing issues or possible data-quality problems.</a:t>
            </a:r>
            <a:endParaRPr sz="1400"/>
          </a:p>
          <a:p>
            <a:pPr>
              <a:spcAft>
                <a:spcPct val="60000"/>
              </a:spcAft>
            </a:pPr>
            <a:r>
              <a:rPr b="1"/>
              <a:t>7. Monitor Geographic Patterns</a:t>
            </a:r>
            <a:endParaRPr b="1"/>
          </a:p>
          <a:p>
            <a:r>
              <a:rPr sz="1400"/>
              <a:t>Investigate cities with higher return rates to understand whether product mix, logistics, shipping performance or customer behavior is contributing to the difference.</a:t>
            </a:r>
            <a:endParaRPr sz="1400"/>
          </a:p>
          <a:p>
            <a:pPr>
              <a:spcAft>
                <a:spcPct val="60000"/>
              </a:spcAft>
            </a:pPr>
            <a:r>
              <a:rPr b="1"/>
              <a:t>8. Use Continuous Dashboard Monitoring</a:t>
            </a:r>
            <a:endParaRPr b="1"/>
          </a:p>
          <a:p>
            <a:r>
              <a:rPr sz="1400"/>
              <a:t>Connect the cleaned SQL data to Power BI and create a dashboard for regularly monitoring return rate, refund value, return reasons, product risk and monthly trends.</a:t>
            </a:r>
            <a:endParaRPr sz="1400"/>
          </a:p>
        </p:txBody>
      </p:sp>
    </p:spTree>
    <p:custDataLst>
      <p:tags r:id="rId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sp>
        <p:nvSpPr>
          <p:cNvPr id="3" name="Content Placeholder 2"/>
          <p:cNvSpPr>
            <a:spLocks noGrp="1"/>
          </p:cNvSpPr>
          <p:nvPr>
            <p:ph idx="1"/>
            <p:custDataLst>
              <p:tags r:id="rId2"/>
            </p:custDataLst>
          </p:nvPr>
        </p:nvSpPr>
        <p:spPr/>
        <p:txBody>
          <a:bodyPr/>
          <a:p>
            <a:endParaRPr lang="en-US"/>
          </a:p>
        </p:txBody>
      </p:sp>
      <p:pic>
        <p:nvPicPr>
          <p:cNvPr id="4" name="Picture 3"/>
          <p:cNvPicPr/>
          <p:nvPr/>
        </p:nvPicPr>
        <p:blipFill>
          <a:blip r:embed="rId3"/>
          <a:stretch>
            <a:fillRect/>
          </a:stretch>
        </p:blipFill>
        <p:spPr>
          <a:xfrm>
            <a:off x="-1431290" y="0"/>
            <a:ext cx="15240000" cy="8572500"/>
          </a:xfrm>
          <a:prstGeom prst="rect">
            <a:avLst/>
          </a:prstGeom>
        </p:spPr>
      </p:pic>
      <p:sp>
        <p:nvSpPr>
          <p:cNvPr id="5" name="Text Box 4"/>
          <p:cNvSpPr txBox="1"/>
          <p:nvPr/>
        </p:nvSpPr>
        <p:spPr>
          <a:xfrm>
            <a:off x="-124460" y="1638935"/>
            <a:ext cx="10257155" cy="3580765"/>
          </a:xfrm>
          <a:prstGeom prst="rect">
            <a:avLst/>
          </a:prstGeom>
        </p:spPr>
        <p:txBody>
          <a:bodyPr wrap="square">
            <a:spAutoFit/>
          </a:bodyPr>
          <a:p>
            <a:pPr>
              <a:spcAft>
                <a:spcPct val="60000"/>
              </a:spcAft>
            </a:pPr>
            <a:r>
              <a:rPr sz="2800" b="1"/>
              <a:t>8. Conclusion</a:t>
            </a:r>
            <a:endParaRPr sz="2800" b="1"/>
          </a:p>
          <a:p>
            <a:r>
              <a:rPr sz="2000"/>
              <a:t>This project transformed unclean e-commerce transactional data into a structured SQL analysis of returns and refunds. The analysis covered data cleaning, return performance, return reasons, category and product risk, customer behavior, discount patterns, refund exposure and monthly trends.</a:t>
            </a:r>
            <a:endParaRPr sz="2000"/>
          </a:p>
          <a:p>
            <a:r>
              <a:rPr sz="2000"/>
              <a:t>The project identified a 32.14% overall return rate, with Size Issue and Damaged as major return reasons, Home &amp; Kitchen showing the highest category return rate and Electronics contributing the highest refund exposure. These findings were converted into practical recommendations to reduce avoidable returns, control refund costs and prioritize high-risk areas for further business investigation.</a:t>
            </a:r>
            <a:endParaRPr sz="2000"/>
          </a:p>
        </p:txBody>
      </p:sp>
    </p:spTree>
    <p:custDataLst>
      <p:tags r:id="rId4"/>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BEAUTIFY_FLAG" val="#wm#"/>
  <p:tag name="KSO_WM_TEMPLATE_CATEGORY" val="custom"/>
  <p:tag name="KSO_WM_TEMPLATE_INDEX" val="2020508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p="http://schemas.openxmlformats.org/presentationml/2006/main">
  <p:tag name="KSO_WM_BEAUTIFY_FLAG" val="#wm#"/>
  <p:tag name="KSO_WM_TEMPLATE_CATEGORY" val="custom"/>
  <p:tag name="KSO_WM_TEMPLATE_INDEX" val="2020508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p="http://schemas.openxmlformats.org/presentationml/2006/main">
  <p:tag name="KSO_WM_BEAUTIFY_FLAG" val="#wm#"/>
  <p:tag name="KSO_WM_TEMPLATE_CATEGORY" val="custom"/>
  <p:tag name="KSO_WM_TEMPLATE_INDEX" val="2020508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7317</Words>
  <Application>WPS Presentation</Application>
  <PresentationFormat>Widescreen</PresentationFormat>
  <Paragraphs>78</Paragraphs>
  <Slides>10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SimSun</vt:lpstr>
      <vt:lpstr>Wingdings</vt:lpstr>
      <vt:lpstr>Wingdings</vt:lpstr>
      <vt:lpstr>Microsoft YaHei</vt:lpstr>
      <vt:lpstr>Arial Unicode MS</vt:lpstr>
      <vt:lpstr>Calibri</vt:lpstr>
      <vt:lpstr>Helvetica-Bold</vt:lpstr>
      <vt:lpstr>Helvetica</vt:lpstr>
      <vt:lpstr>Segoe Print</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Blank Presentation</dc:title>
  <dc:creator>Dell</dc:creator>
  <cp:lastModifiedBy>Chanakshi Attarde</cp:lastModifiedBy>
  <cp:revision>1</cp:revision>
  <dcterms:created xsi:type="dcterms:W3CDTF">2026-09-14T19:19:44Z</dcterms:created>
  <dcterms:modified xsi:type="dcterms:W3CDTF">2026-09-14T19:19:44Z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79B594154E7E490EA2B6876E851DAED7_11</vt:lpwstr>
  </property>
</Properties>
</file>